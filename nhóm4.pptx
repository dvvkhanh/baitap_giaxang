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4" r:id="rId3"/>
    <p:sldId id="262" r:id="rId5"/>
    <p:sldId id="257" r:id="rId6"/>
    <p:sldId id="258" r:id="rId7"/>
    <p:sldId id="259" r:id="rId8"/>
    <p:sldId id="260" r:id="rId9"/>
    <p:sldId id="261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457200" y="320675"/>
            <a:ext cx="8229600" cy="2091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PHÂN TÍCH GIÁ XĂNG</a:t>
            </a:r>
            <a:endParaRPr lang="en-US" sz="40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VIỆT </a:t>
            </a:r>
            <a:r>
              <a:rPr lang="en-US" sz="4000" b="1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NAM 2021 </a:t>
            </a: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– 2025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48945" y="2160397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Xu hướng biến động  ·  Giai đoạn tăng/giảm liên tục  ·  Tác động kinh tế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3061545"/>
            <a:ext cx="2651760" cy="822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Text 5"/>
          <p:cNvSpPr/>
          <p:nvPr/>
        </p:nvSpPr>
        <p:spPr>
          <a:xfrm>
            <a:off x="365760" y="3061545"/>
            <a:ext cx="2651760" cy="320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dirty="0"/>
              <a:t>Loại xăng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3381585"/>
            <a:ext cx="2651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</a:rPr>
              <a:t>RON 95-III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0400" y="3061545"/>
            <a:ext cx="2651760" cy="822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3200400" y="3061545"/>
            <a:ext cx="2651760" cy="320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dirty="0"/>
              <a:t>Chu kỳ điều chỉnh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00400" y="3381585"/>
            <a:ext cx="2651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</a:rPr>
              <a:t>Mỗi thứ Năm hàng tuần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35040" y="3061545"/>
            <a:ext cx="2651760" cy="822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6035040" y="3061545"/>
            <a:ext cx="2651760" cy="320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dirty="0"/>
              <a:t>Nguồn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35040" y="3381585"/>
            <a:ext cx="2651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>
                <a:solidFill>
                  <a:srgbClr val="F59E0B"/>
                </a:solidFill>
              </a:rPr>
              <a:t>Petrolimex</a:t>
            </a:r>
            <a:endParaRPr lang="en-US" dirty="0"/>
          </a:p>
        </p:txBody>
      </p:sp>
      <p:sp>
        <p:nvSpPr>
          <p:cNvPr id="15" name="Text Box 14"/>
          <p:cNvSpPr txBox="1"/>
          <p:nvPr/>
        </p:nvSpPr>
        <p:spPr>
          <a:xfrm>
            <a:off x="1997075" y="4462780"/>
            <a:ext cx="5150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LINK YOUTUBE: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https://youtu.be/BQaGUDkyb1c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· CÂU HỎI ĐẶT 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01168" y="731520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9921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Giai đoạn nào giá xăng tăng/giảm liên tục trong 5 năm?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1586484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847088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 tháng có mức biến động giá mạnh nhất &amp; tác động?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441448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270205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Xu hướng giá thay đổi thế nào qua từng năm?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" y="3296412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557016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Năm nào có giá trung bình cao nhất &amp; ảnh hưởng như thế nào?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" y="4151376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solidFill>
            <a:srgbClr val="10B981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441198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Các tháng có giá xăng thấp nhất trong 5 năm?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GIỚI THIỆU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28600" y="749808"/>
            <a:ext cx="2743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2743200" cy="402336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49808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LÀM GÌ?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234440"/>
            <a:ext cx="2514600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biến động giá xăng RON 95 giai đoạn 2021–2025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Xác định các giai đoạn tăng / giảm liên tục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Thống kê Top 5 tháng giá cao &amp; thấp nhất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khối lượng giao dịch theo từng kỳ điều chỉnh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giá trung bình theo năm &amp; so sánh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36392" y="749808"/>
            <a:ext cx="2743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749808"/>
            <a:ext cx="2743200" cy="402336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36392" y="749808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ĐỂ LÀM GÌ?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234440"/>
            <a:ext cx="2514600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Trả lời 5 câu hỏi phân tích dữ liệu thực tế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Hiểu tác động chi phí đến doanh nghiệp vận tải &amp; logistics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Nhận biết mối quan hệ giá ↔ nhu cầu tiêu dùng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Cung cấp góc nhìn để dự báo xu hướng chi phí nhiên liệu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44184" y="749808"/>
            <a:ext cx="2743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44184" y="749808"/>
            <a:ext cx="2743200" cy="402336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44184" y="749808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anose="020B0A04020102020204" pitchFamily="34" charset="0"/>
              </a:rPr>
              <a:t>Phân chia công việc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44184" y="1234440"/>
            <a:ext cx="2734056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Aft>
                <a:spcPts val="700"/>
              </a:spcAft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Làm </a:t>
            </a: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: 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700"/>
              </a:spcAft>
              <a:buSzPct val="100000"/>
              <a:buFont typeface="Symbol" panose="05050102010706020507" pitchFamily="18" charset="2"/>
              <a:buChar char="+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Như Khiêm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700"/>
              </a:spcAft>
              <a:buSzPct val="100000"/>
              <a:buFont typeface="Symbol" panose="05050102010706020507" pitchFamily="18" charset="2"/>
              <a:buChar char="+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Thị Kim Huệ</a:t>
            </a:r>
            <a:endParaRPr lang="en-US" sz="1400" dirty="0"/>
          </a:p>
          <a:p>
            <a:pPr>
              <a:spcAft>
                <a:spcPts val="700"/>
              </a:spcAft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Thuyết trình </a:t>
            </a: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cáo: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700"/>
              </a:spcAft>
              <a:buSzPct val="100000"/>
              <a:buFont typeface="Symbol" panose="05050102010706020507" pitchFamily="18" charset="2"/>
              <a:buChar char="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Đức Dương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700"/>
              </a:spcAft>
              <a:buSzPct val="100000"/>
              <a:buFont typeface="Symbol" panose="05050102010706020507" pitchFamily="18" charset="2"/>
              <a:buChar char="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Đức Anh Tú</a:t>
            </a:r>
            <a:endParaRPr lang="en-US" sz="1400" dirty="0"/>
          </a:p>
          <a:p>
            <a:pPr>
              <a:spcAft>
                <a:spcPts val="700"/>
              </a:spcAft>
              <a:buSzPct val="100000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Chạy chương trình + </a:t>
            </a: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quay </a:t>
            </a: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demo: 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700"/>
              </a:spcAft>
              <a:buSzPct val="100000"/>
              <a:buFont typeface="Symbol" panose="05050102010706020507" pitchFamily="18" charset="2"/>
              <a:buChar char="+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Đình Tú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700"/>
              </a:spcAft>
              <a:buSzPct val="100000"/>
              <a:buFont typeface="Symbol" panose="05050102010706020507" pitchFamily="18" charset="2"/>
              <a:buChar char="+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Đậu Văn Khánh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700"/>
              </a:spcAft>
              <a:buSzPct val="100000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Tìm </a:t>
            </a: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liệu, code &amp; đặt 5 </a:t>
            </a: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 hỏi : 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700"/>
              </a:spcAft>
              <a:buSzPct val="100000"/>
            </a:pPr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Vũ Đức Tú</a:t>
            </a: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DỮ LIỆU &amp; CƠ CHẾ ĐIỀU HÀNH GIÁ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28600" y="749808"/>
            <a:ext cx="5029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5029200" cy="402336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49808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CƠ </a:t>
            </a:r>
            <a:r>
              <a:rPr lang="en-US" b="1" dirty="0">
                <a:solidFill>
                  <a:srgbClr val="FFFFFF"/>
                </a:solidFill>
              </a:rPr>
              <a:t>CHẾ ĐIỀU </a:t>
            </a:r>
            <a:r>
              <a:rPr lang="en-US" b="1">
                <a:solidFill>
                  <a:srgbClr val="FFFFFF"/>
                </a:solidFill>
              </a:rPr>
              <a:t>HÀNH GIÁ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1371600" cy="502920"/>
          </a:xfrm>
          <a:prstGeom prst="rect">
            <a:avLst/>
          </a:prstGeom>
          <a:solidFill>
            <a:srgbClr val="64748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9844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Trước 11/2023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83080" y="1316736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ngày / lần — ngày 1, 11, 21 hàng tháng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828800"/>
            <a:ext cx="46634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59736"/>
            <a:ext cx="1371600" cy="502920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459736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Từ 11/2023 →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3080" y="2153412"/>
            <a:ext cx="3429000" cy="9189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ngày / lần — vào thứ Năm hàng tuần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(Nghị định 80/2023/NĐ-CP)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2990088"/>
            <a:ext cx="46634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21024"/>
            <a:ext cx="1371600" cy="502920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62102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Trường hợp đặc biệt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3080" y="3639312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Điều chỉnh ngay trong ngày nếu giá </a:t>
            </a:r>
            <a:r>
              <a:rPr lang="en-US" sz="16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cơ sở</a:t>
            </a:r>
            <a:r>
              <a:rPr lang="en-US" sz="1600" dirty="0"/>
              <a:t> </a:t>
            </a:r>
            <a:r>
              <a:rPr lang="en-US" sz="16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tăng </a:t>
            </a: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≥ 15% so với kỳ liền trước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Nguồn: Nghị định 80/2023/NĐ-CP – Bộ Công Thương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749808"/>
            <a:ext cx="333756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749808"/>
            <a:ext cx="3337560" cy="402336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749808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F172A"/>
                </a:solidFill>
              </a:rPr>
              <a:t>MÔ </a:t>
            </a:r>
            <a:r>
              <a:rPr lang="en-US" b="1" dirty="0">
                <a:solidFill>
                  <a:srgbClr val="0F172A"/>
                </a:solidFill>
              </a:rPr>
              <a:t>TẢ DỮ LIỆU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69280" y="1261872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Phạm vi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95160" y="1261872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01/2021 → 12/2025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0" y="1755648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828800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Tần suất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95160" y="1828800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thứ Năm hàng tuần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0" y="2322576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395728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Sản phẩm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95160" y="2395728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Xăng RON 95-III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0" y="2889504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962656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Cột dữ liệu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95160" y="2962656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Ngày · Giá (₫/lít) · KL giao dịch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69280" y="3456432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3529584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Số bản ghi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995160" y="3529584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~260 kỳ điều chỉnh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9280" y="4023360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096512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Đơn vị giá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95160" y="4096512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VNĐ / lít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PHƯƠNG PHÁP PHÂN TÍCH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kỳ điều chỉnh giá (thứ Năm hàng tuần) được xử lý theo quy trình 4 bước: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512064" cy="1874520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143000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59" y="1234440"/>
            <a:ext cx="3532293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Đánh dấu xu hướng từng kỳ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sánh giá kỳ hiện tại vs kỳ trước:</a:t>
            </a:r>
            <a:endParaRPr lang="en-US" sz="1600" dirty="0"/>
          </a:p>
          <a:p>
            <a:pPr marL="285750" indent="-285750">
              <a:buFont typeface="Symbol" panose="05050102010706020507" pitchFamily="18" charset="2"/>
              <a:buChar char="+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Tăng → đánh dấu  1</a:t>
            </a:r>
            <a:endParaRPr lang="en-US" sz="1600" dirty="0"/>
          </a:p>
          <a:p>
            <a:pPr marL="285750" indent="-285750">
              <a:buFont typeface="Symbol" panose="05050102010706020507" pitchFamily="18" charset="2"/>
              <a:buChar char="+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Giảm / giữ nguyên → đánh dấu 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Tạo ra chuỗi nhị phân theo thứ tự thời gian.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512064" cy="1874520"/>
          </a:xfrm>
          <a:prstGeom prst="rect">
            <a:avLst/>
          </a:prstGeom>
          <a:solidFill>
            <a:srgbClr val="F97316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43000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Tìm chuỗi tăng liên tiếp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Quét toàn bộ chuỗi nhị phân để tìm các đoạn liên tiếp toàn số 1 (ví dụ: 8 tuần liên tục tăng). Đếm độ dài mỗi đoạn → lọc những giai đoạn dài nhất.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3136392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136392"/>
            <a:ext cx="512064" cy="1874520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136392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227832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Xử lý kỳ ngoại lệ ("nhiễu")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960" y="3593592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Nếu chuỗi đang tăng mà gặp đúng 1 kỳ giảm nhẹ (&lt; 500 ₫) do yếu tố mùa vụ / ngày lễ → vẫn coi là thuộc giai đoạn tăng, không làm gián đoạn chuỗi.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136392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36392"/>
            <a:ext cx="512064" cy="1874520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36392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57800" y="3227832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Thống kê tổng hợp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57800" y="3593592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Top 5 giá cao/thấp · Trung bình theo năm · Tháng có KL giao dịch cao nhất · So sánh tương quan giá ↔ giao dịch bằng hệ số Pearson.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CÁC BƯỚC THỰC HIỆN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74320" y="749808"/>
            <a:ext cx="475488" cy="56692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749808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786384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Thu thập &amp; làm sạch dữ liệu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042416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Loại bỏ kỳ lễ Tết thiếu dữ liệu, chuẩn hoá định dạng ngày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344168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67612"/>
            <a:ext cx="475488" cy="566928"/>
          </a:xfrm>
          <a:prstGeom prst="rect">
            <a:avLst/>
          </a:prstGeom>
          <a:solidFill>
            <a:srgbClr val="F97316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467612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1467612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1504188"/>
            <a:ext cx="79461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Vẽ biểu đồ xu hướng giá theo thời gian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1760220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chart toàn bộ 2021–2025, đánh dấu đỉnh / đáy nổi bật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2061972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185416"/>
            <a:ext cx="475488" cy="566928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185416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" y="2185416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2221992"/>
            <a:ext cx="79461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Tạo chuỗi nhị phân đánh dấu tăng/giảm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247802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Cột mới: 1 = tăng, 0 = giảm/giữ. Áp dụng quy tắc xử lý ngoại lệ 1 kỳ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2779776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903220"/>
            <a:ext cx="475488" cy="566928"/>
          </a:xfrm>
          <a:prstGeom prst="rect">
            <a:avLst/>
          </a:prstGeom>
          <a:solidFill>
            <a:srgbClr val="065A8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903220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" y="2903220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2939796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Tìm giai đoạn tăng / giảm dài nhất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3195828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Duyệt chuỗi, đếm đoạn liên tiếp, trích xuất top 3 giai đoạn mỗi loại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3497580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621024"/>
            <a:ext cx="475488" cy="566928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621024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5528" y="3621024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2688" y="3657600"/>
            <a:ext cx="7936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Thống kê Top 5 cao nhất &amp; thấp nhất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" y="3913632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Group-by tháng → lấy max/min → bảng xếp hạng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" y="4215384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338828"/>
            <a:ext cx="475488" cy="566928"/>
          </a:xfrm>
          <a:prstGeom prst="rect">
            <a:avLst/>
          </a:prstGeom>
          <a:solidFill>
            <a:srgbClr val="047857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4338828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" y="4338828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2688" y="4375404"/>
            <a:ext cx="79461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Phân tích tương quan giá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2688" y="4631436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Pearson correlation, vẽ scatter plot, nhận định xu hướng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KẾT QUẢ CHÍNH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804672" y="640080"/>
            <a:ext cx="2011680" cy="157276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640080"/>
            <a:ext cx="2011680" cy="301752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640080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Giá cao nhất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941832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32.870 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" y="167335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Tháng 06/2022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53044" y="653796"/>
            <a:ext cx="2011680" cy="157276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3044" y="653796"/>
            <a:ext cx="2011680" cy="301752"/>
          </a:xfrm>
          <a:prstGeom prst="rect">
            <a:avLst/>
          </a:prstGeom>
          <a:solidFill>
            <a:srgbClr val="10B981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53044" y="653796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Giá thấp nhất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53044" y="955548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16.930 ₫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53044" y="16870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Tháng 01/2021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999999" y="9999999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1416" y="653796"/>
            <a:ext cx="2011680" cy="157276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1416" y="653796"/>
            <a:ext cx="2011680" cy="301752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01416" y="653796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Giá TB cao nhất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01416" y="955548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26.181 ₫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01416" y="16870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Năm 2022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2468880"/>
            <a:ext cx="4160520" cy="23957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468880"/>
            <a:ext cx="4160520" cy="347472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246888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🔺 TOP 3 THÁNG GIÁ CAO NHẤT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" y="2907792"/>
            <a:ext cx="457200" cy="475488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2608" y="2907792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2916936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06/2022  32.870 ₫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3163824"/>
            <a:ext cx="3383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Đỉnh khủng hoảng năng lượng toàn cầu hậu COVID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" y="3529584"/>
            <a:ext cx="457200" cy="475488"/>
          </a:xfrm>
          <a:prstGeom prst="rect">
            <a:avLst/>
          </a:prstGeom>
          <a:solidFill>
            <a:srgbClr val="F97316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2608" y="3529584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" y="353872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07/2022  32.760 ₫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" y="3785616"/>
            <a:ext cx="3383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Duy trì đỉnh ngay sau kỳ cao nhất – giảm nhẹ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" y="4151376"/>
            <a:ext cx="457200" cy="47548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2608" y="4151376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" y="416052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05/2022  30.650 ₫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" y="4407408"/>
            <a:ext cx="3383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Leo thang liên tiếp trước khi chạm đỉnh 06/2022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17720" y="2468880"/>
            <a:ext cx="4297680" cy="23957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468880"/>
            <a:ext cx="4297680" cy="347472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17720" y="2468880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NHẬN XÉT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09160" y="2889504"/>
            <a:ext cx="4114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 Cả 3 tháng cao nhất đều trong năm 2022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Cú sốc năng lượng toàn cầu hậu COVID-19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29584"/>
            <a:ext cx="4114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 01/2021 là đáy 5 năm (16.930₫/lít)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Nhu cầu thấp đầu năm, thị trường vừa phục hồi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09160" y="4169664"/>
            <a:ext cx="4114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 2022 có giá TB cao nhất (26.181₫/lít)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Áp lực chi phí nhiên liệu lớn nhất lên DN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 ·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CÂU HỎI PHÂN TÍCH &amp; TRẢ LỜI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01168" y="731520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768096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Giai đoạn nào giá xăng tăng/giảm liên tục trong 5 năm?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133856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Tăng dài nhất: 16 kỳ liên tiếp (31/07/2025 → 13/11/2025), giá +730₫. Giảm dài nhất: 10 kỳ (01/07/2022 → 03/10/2022), giá giảm 11.320₫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586484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162306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 tháng có mức biến động giá mạnh nhất &amp; tác động?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19888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vi-VN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06/2022 (32.870₫) · 07/2022 (32.760₫) · 05/2022 (30.650₫) → Cả 3 đều trong năm 2022, cú sốc năng lượng toàn cầu hậu COVID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441448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24780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Xu hướng giá thay đổi thế nào qua từng năm?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843784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2021: 20.730₫ · 2022: 26.181₫ (đỉnh) · 2023: 23.027₫ · 2024: 22.353₫ · 2025: 20.193₫ — giảm dần sau đỉnh 2022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296412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3332988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Năm nào có giá trung bình cao nhất &amp; ảnh hưởng như thế nào?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698748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 2022: TB 26.181₫/lít (cao nhất 5 năm) → áp lực chi phí đầu vào lớn nhất cho vận tải, sản xuất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4151376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solidFill>
            <a:srgbClr val="10B981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" y="418795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Các tháng có giá xăng thấp nhất trong 5 năm?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4553712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vi-VN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01/2021 (16.930₫) · 02/2021 (17.270₫) · 04/2025 (18.850₫) · 03/2021 (18.880₫) · 04/2021 (18.970₫) — thời điểm vàng để tối ưu chi phí vận hành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 </a:t>
            </a:r>
            <a:r>
              <a:rPr lang="en-US" sz="2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ĐỀ XUẤT &amp; HẠN CHẾ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4251960" cy="402336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804672"/>
            <a:ext cx="42519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  ĐỀ XUẤT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39319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 dõi giá dầu Brent &amp; WTI mỗi tuần để dự báo kỳ điều chỉnh thứ Năm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 vận tải lập quỹ dự phòng nhiên liệu khi giá vượt ngưỡng 25.000 ₫/lít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Mở rộng phân tích sang xăng E5 RON 92 và dầu diesel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hợp chỉ số CPI &amp; GDP để đánh giá tác động vĩ mô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dashboard cập nhật tự động mỗi thứ Năm (chu kỳ chính thức)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90872" y="804672"/>
            <a:ext cx="4251960" cy="402336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804672"/>
            <a:ext cx="42519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  HẠN CHẾ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298448"/>
            <a:ext cx="39319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giao dịch còn thiếu một số kỳ điều chỉnh nhỏ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phân tách theo vùng địa lý (Hà Nội, TP.HCM, vùng sâu xa)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phân tích tác động trực tiếp đến CPI &amp; lạm phát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tích hợp dữ liệu giá dầu thô Brent để đối chiếu nguyên nhân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dừng ở thống kê mô tả; chưa có mô hình dự báo (ARIMA…)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5182</Words>
  <Application>WPS Presentation</Application>
  <PresentationFormat>Trình chiếu Trên màn hình (16:9)</PresentationFormat>
  <Paragraphs>297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Symbol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Tú Nguyễn đình tú</cp:lastModifiedBy>
  <cp:revision>11</cp:revision>
  <dcterms:created xsi:type="dcterms:W3CDTF">2026-05-23T08:11:00Z</dcterms:created>
  <dcterms:modified xsi:type="dcterms:W3CDTF">2026-05-24T10:08:09Z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ABBFB20C7F7145FF9B4B76D6BC041338_12</vt:lpwstr>
  </property>
  <property fmtid="{D5CDD505-2E9C-101B-9397-08002B2CF9AE}" pid="3" name="KSOProductBuildVer">
    <vt:lpwstr>1033-12.1.0.26372</vt:lpwstr>
  </property>
</Properties>
</file>