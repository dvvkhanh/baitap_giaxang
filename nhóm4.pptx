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4" r:id="rId2"/>
    <p:sldId id="262" r:id="rId3"/>
    <p:sldId id="257" r:id="rId4"/>
    <p:sldId id="258" r:id="rId5"/>
    <p:sldId id="259" r:id="rId6"/>
    <p:sldId id="260" r:id="rId7"/>
    <p:sldId id="261" r:id="rId8"/>
    <p:sldId id="266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4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5385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8D89E-4FEF-B4BE-C5E1-42023219A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DA2838-F271-9B79-A020-75199F31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4A57E5-0A4C-D83D-EFCF-5936B1B64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2B1993-8778-B43C-90D2-9325A91668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5023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DFA5-9FC9-B2B9-8CF1-1AD1295C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621234-F1BE-7ADD-ECE7-946CDC078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5844C-1357-C111-FE24-6B413FA83B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093500-0930-8B2F-B832-EA508F350E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97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1C5B5-6A6A-82A1-2D44-3B0396B95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7C13E0-B932-E7CD-36AF-7D5897112A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ACC46C-7826-BB4C-E437-5661E8FDE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B6F90E-FFCA-89AB-E982-6C1BA67E3E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1235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CDFD3-3EA4-B4E3-E918-774327C1B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C396752-0E8E-96D8-2311-DB5276C00F0F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20EAE27-2F13-EB67-3955-1F466263A05A}"/>
              </a:ext>
            </a:extLst>
          </p:cNvPr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3314C11-15DC-D9D5-6657-45BDF50564B5}"/>
              </a:ext>
            </a:extLst>
          </p:cNvPr>
          <p:cNvSpPr/>
          <p:nvPr/>
        </p:nvSpPr>
        <p:spPr>
          <a:xfrm>
            <a:off x="457200" y="2057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PHÂN TÍCH GIÁ XĂNG</a:t>
            </a:r>
            <a:endParaRPr lang="en-US" sz="4000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US" sz="4000" b="1" dirty="0">
                <a:solidFill>
                  <a:srgbClr val="FF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VIỆT </a:t>
            </a:r>
            <a:r>
              <a:rPr lang="en-US" sz="4000" b="1">
                <a:solidFill>
                  <a:srgbClr val="FF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 2021 </a:t>
            </a:r>
            <a:r>
              <a:rPr lang="en-US" sz="4000" b="1" dirty="0">
                <a:solidFill>
                  <a:srgbClr val="FF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 2025</a:t>
            </a:r>
            <a:endParaRPr lang="en-US" sz="4000" dirty="0">
              <a:solidFill>
                <a:srgbClr val="FF0000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9996A7B-EBB1-C783-02F6-DD3478231D3D}"/>
              </a:ext>
            </a:extLst>
          </p:cNvPr>
          <p:cNvSpPr/>
          <p:nvPr/>
        </p:nvSpPr>
        <p:spPr>
          <a:xfrm>
            <a:off x="457200" y="249631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 hướng biến động  ·  Giai đoạn tăng/giảm liên tục  ·  Tác động kinh tế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634BCB2C-11A7-F005-28D4-07F125555563}"/>
              </a:ext>
            </a:extLst>
          </p:cNvPr>
          <p:cNvSpPr/>
          <p:nvPr/>
        </p:nvSpPr>
        <p:spPr>
          <a:xfrm>
            <a:off x="365760" y="3381585"/>
            <a:ext cx="2651760" cy="82296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999616B1-BA4C-A159-F82B-C030E2CEF248}"/>
              </a:ext>
            </a:extLst>
          </p:cNvPr>
          <p:cNvSpPr/>
          <p:nvPr/>
        </p:nvSpPr>
        <p:spPr>
          <a:xfrm>
            <a:off x="365760" y="3381585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dirty="0"/>
              <a:t>Loại xăng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36F2E50-8455-BEF9-A5F3-3277B9FC3DD1}"/>
              </a:ext>
            </a:extLst>
          </p:cNvPr>
          <p:cNvSpPr/>
          <p:nvPr/>
        </p:nvSpPr>
        <p:spPr>
          <a:xfrm>
            <a:off x="365760" y="3701625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</a:rPr>
              <a:t>RON 95-III</a:t>
            </a:r>
            <a:endParaRPr lang="en-US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B51A5B7-304D-0796-3DC5-9186F4B4202D}"/>
              </a:ext>
            </a:extLst>
          </p:cNvPr>
          <p:cNvSpPr/>
          <p:nvPr/>
        </p:nvSpPr>
        <p:spPr>
          <a:xfrm>
            <a:off x="3200400" y="3381585"/>
            <a:ext cx="2651760" cy="82296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38EBCBC0-C049-8229-28FF-F3A62250C5A4}"/>
              </a:ext>
            </a:extLst>
          </p:cNvPr>
          <p:cNvSpPr/>
          <p:nvPr/>
        </p:nvSpPr>
        <p:spPr>
          <a:xfrm>
            <a:off x="3200400" y="3381585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dirty="0"/>
              <a:t>Chu kỳ điều chỉnh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1109C5A-9D77-EA63-9E6F-29A1C2DCD163}"/>
              </a:ext>
            </a:extLst>
          </p:cNvPr>
          <p:cNvSpPr/>
          <p:nvPr/>
        </p:nvSpPr>
        <p:spPr>
          <a:xfrm>
            <a:off x="3200400" y="3701625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 dirty="0">
                <a:solidFill>
                  <a:srgbClr val="F59E0B"/>
                </a:solidFill>
              </a:rPr>
              <a:t>Mỗi thứ Năm hàng tuần</a:t>
            </a:r>
            <a:endParaRPr lang="en-US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D707665B-3F97-06AF-54BF-CF6BAA28ADDA}"/>
              </a:ext>
            </a:extLst>
          </p:cNvPr>
          <p:cNvSpPr/>
          <p:nvPr/>
        </p:nvSpPr>
        <p:spPr>
          <a:xfrm>
            <a:off x="6035040" y="3381585"/>
            <a:ext cx="2651760" cy="82296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E469571-D433-9A38-DF0E-EBBEF33D8808}"/>
              </a:ext>
            </a:extLst>
          </p:cNvPr>
          <p:cNvSpPr/>
          <p:nvPr/>
        </p:nvSpPr>
        <p:spPr>
          <a:xfrm>
            <a:off x="6035040" y="3381585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dirty="0"/>
              <a:t>Nguồn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F1200B9A-7417-DF84-5796-9ABA62096BED}"/>
              </a:ext>
            </a:extLst>
          </p:cNvPr>
          <p:cNvSpPr/>
          <p:nvPr/>
        </p:nvSpPr>
        <p:spPr>
          <a:xfrm>
            <a:off x="6035040" y="3701625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b="1">
                <a:solidFill>
                  <a:srgbClr val="F59E0B"/>
                </a:solidFill>
              </a:rPr>
              <a:t>Petrolimex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997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· CÂU HỎI ĐẶT RA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201168" y="731520"/>
            <a:ext cx="8741664" cy="74980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01168" y="731520"/>
            <a:ext cx="457200" cy="749808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01168" y="731520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992124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Giai đoạn nào giá xăng tăng/giảm liên tục trong 5 năm?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01168" y="1586484"/>
            <a:ext cx="8741664" cy="74980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1168" y="1586484"/>
            <a:ext cx="457200" cy="749808"/>
          </a:xfrm>
          <a:prstGeom prst="rect">
            <a:avLst/>
          </a:prstGeom>
          <a:solidFill>
            <a:srgbClr val="EF4444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01168" y="1586484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184708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tháng có mức biến động giá mạnh nhất &amp; tác động?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01168" y="2441448"/>
            <a:ext cx="8741664" cy="74980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01168" y="2441448"/>
            <a:ext cx="457200" cy="749808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" y="2441448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31520" y="2702052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vi-VN" sz="1200" b="1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Xu hướng giá thay đổi thế nào qua từng năm?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01168" y="3296412"/>
            <a:ext cx="8741664" cy="74980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01168" y="3296412"/>
            <a:ext cx="457200" cy="749808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01168" y="3296412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31520" y="3557016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Năm nào có giá trung bình cao nhất &amp; ảnh hưởng như thế nào?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01168" y="4151376"/>
            <a:ext cx="8741664" cy="74980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01168" y="4151376"/>
            <a:ext cx="457200" cy="749808"/>
          </a:xfrm>
          <a:prstGeom prst="rect">
            <a:avLst/>
          </a:prstGeom>
          <a:solidFill>
            <a:srgbClr val="10B981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01168" y="4151376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31520" y="44119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Các tháng có giá xăng thấp nhất trong 5 năm?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</a:t>
            </a:r>
            <a:r>
              <a:rPr lang="en-US" sz="2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· GIỚI THIỆU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749808"/>
            <a:ext cx="2743200" cy="4160520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749808"/>
            <a:ext cx="2743200" cy="402336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8600" y="749808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LÀM GÌ?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" y="1234440"/>
            <a:ext cx="2514600" cy="3520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biến động giá xăng RON 95 giai đoạn 2021–2025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định các giai đoạn tăng / giảm liên tục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Top 5 tháng giá cao &amp; thấp nhất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khối lượng giao dịch theo từng kỳ điều chỉnh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giá trung bình theo năm &amp; so sánh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136392" y="749808"/>
            <a:ext cx="2743200" cy="4160520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36392" y="749808"/>
            <a:ext cx="2743200" cy="402336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36392" y="749808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ĐỂ LÀM GÌ?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46120" y="1234440"/>
            <a:ext cx="2514600" cy="3520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lời 5 câu hỏi phân tích dữ liệu thực tế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Hiểu tác động chi phí đến doanh nghiệp vận tải &amp; logistics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biết mối quan hệ giá ↔ nhu cầu tiêu dùng</a:t>
            </a:r>
            <a:endParaRPr lang="en-US" sz="16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Cung cấp góc nhìn để dự báo xu hướng chi phí nhiên liệu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44184" y="749808"/>
            <a:ext cx="2743200" cy="4160520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44184" y="749808"/>
            <a:ext cx="2743200" cy="402336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44184" y="749808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  <a:latin typeface="Arial Black" pitchFamily="34" charset="0"/>
              </a:rPr>
              <a:t>Phân chia công việc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44184" y="1234440"/>
            <a:ext cx="2734056" cy="3520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700"/>
              </a:spcAft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</a:t>
            </a: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: </a:t>
            </a:r>
          </a:p>
          <a:p>
            <a:pPr marL="171450" indent="-171450">
              <a:spcAft>
                <a:spcPts val="700"/>
              </a:spcAft>
              <a:buSzPct val="100000"/>
              <a:buFont typeface="Symbol" panose="05050102010706020507" pitchFamily="18" charset="2"/>
              <a:buChar char="+"/>
            </a:pP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Như Khiêm</a:t>
            </a:r>
          </a:p>
          <a:p>
            <a:pPr marL="171450" indent="-171450">
              <a:spcAft>
                <a:spcPts val="700"/>
              </a:spcAft>
              <a:buSzPct val="100000"/>
              <a:buFont typeface="Symbol" panose="05050102010706020507" pitchFamily="18" charset="2"/>
              <a:buChar char="+"/>
            </a:pP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Thị Kim Huệ</a:t>
            </a:r>
            <a:endParaRPr lang="en-US" sz="1400" dirty="0"/>
          </a:p>
          <a:p>
            <a:pPr>
              <a:spcAft>
                <a:spcPts val="700"/>
              </a:spcAft>
              <a:buSzPct val="100000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Thuyết trình </a:t>
            </a: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 cáo:</a:t>
            </a:r>
          </a:p>
          <a:p>
            <a:pPr marL="171450" indent="-171450">
              <a:spcAft>
                <a:spcPts val="700"/>
              </a:spcAft>
              <a:buSzPct val="100000"/>
              <a:buFont typeface="Symbol" panose="05050102010706020507" pitchFamily="18" charset="2"/>
              <a:buChar char=""/>
            </a:pP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Đức Dương</a:t>
            </a:r>
          </a:p>
          <a:p>
            <a:pPr marL="171450" indent="-171450">
              <a:spcAft>
                <a:spcPts val="700"/>
              </a:spcAft>
              <a:buSzPct val="100000"/>
              <a:buFont typeface="Symbol" panose="05050102010706020507" pitchFamily="18" charset="2"/>
              <a:buChar char=""/>
            </a:pP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Đức Anh Tú</a:t>
            </a:r>
            <a:endParaRPr lang="en-US" sz="1400" dirty="0"/>
          </a:p>
          <a:p>
            <a:pPr>
              <a:spcAft>
                <a:spcPts val="700"/>
              </a:spcAft>
              <a:buSzPct val="100000"/>
            </a:pP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chương trình + 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quay </a:t>
            </a: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demo: </a:t>
            </a:r>
          </a:p>
          <a:p>
            <a:pPr marL="171450" indent="-171450">
              <a:spcAft>
                <a:spcPts val="700"/>
              </a:spcAft>
              <a:buSzPct val="100000"/>
              <a:buFont typeface="Symbol" panose="05050102010706020507" pitchFamily="18" charset="2"/>
              <a:buChar char="+"/>
            </a:pP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Đình Tú</a:t>
            </a:r>
          </a:p>
          <a:p>
            <a:pPr marL="171450" indent="-171450">
              <a:spcAft>
                <a:spcPts val="700"/>
              </a:spcAft>
              <a:buSzPct val="100000"/>
              <a:buFont typeface="Symbol" panose="05050102010706020507" pitchFamily="18" charset="2"/>
              <a:buChar char="+"/>
            </a:pP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Đậu Văn Khánh</a:t>
            </a:r>
          </a:p>
          <a:p>
            <a:pPr>
              <a:spcAft>
                <a:spcPts val="700"/>
              </a:spcAft>
              <a:buSzPct val="100000"/>
            </a:pP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liệu, code &amp; đặt 5 </a:t>
            </a: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: </a:t>
            </a:r>
          </a:p>
          <a:p>
            <a:pPr>
              <a:spcAft>
                <a:spcPts val="700"/>
              </a:spcAft>
              <a:buSzPct val="100000"/>
            </a:pPr>
            <a:r>
              <a:rPr lang="en-US" sz="14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Vũ Đức Tú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</a:t>
            </a:r>
            <a:r>
              <a:rPr lang="en-US" sz="2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· DỮ LIỆU &amp; CƠ CHẾ ĐIỀU HÀNH GIÁ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228600" y="749808"/>
            <a:ext cx="5029200" cy="4160520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749808"/>
            <a:ext cx="5029200" cy="402336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8600" y="74980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FFFFFF"/>
                </a:solidFill>
              </a:rPr>
              <a:t>CƠ </a:t>
            </a:r>
            <a:r>
              <a:rPr lang="en-US" b="1" dirty="0">
                <a:solidFill>
                  <a:srgbClr val="FFFFFF"/>
                </a:solidFill>
              </a:rPr>
              <a:t>CHẾ ĐIỀU </a:t>
            </a:r>
            <a:r>
              <a:rPr lang="en-US" b="1">
                <a:solidFill>
                  <a:srgbClr val="FFFFFF"/>
                </a:solidFill>
              </a:rPr>
              <a:t>HÀNH GIÁ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1371600" cy="502920"/>
          </a:xfrm>
          <a:prstGeom prst="rect">
            <a:avLst/>
          </a:prstGeom>
          <a:solidFill>
            <a:srgbClr val="64748B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" y="129844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Trước 11/2023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783080" y="1316736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ngày / lần — ngày 1, 11, 21 hàng tháng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11480" y="1828800"/>
            <a:ext cx="466344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" y="2459736"/>
            <a:ext cx="1371600" cy="502920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20040" y="2459736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Từ 11/2023 →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783080" y="2153412"/>
            <a:ext cx="3429000" cy="9189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ngày / lần — vào thứ Năm hàng tuần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(Nghị định 80/2023/NĐ-CP)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11480" y="2990088"/>
            <a:ext cx="466344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3621024"/>
            <a:ext cx="1371600" cy="502920"/>
          </a:xfrm>
          <a:prstGeom prst="rect">
            <a:avLst/>
          </a:prstGeom>
          <a:solidFill>
            <a:srgbClr val="EF4444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0040" y="3621024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Trường hợp đặc biệt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783080" y="3639312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chỉnh ngay trong ngày nếu giá </a:t>
            </a: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sở</a:t>
            </a:r>
            <a:r>
              <a:rPr lang="en-US" sz="1600" dirty="0"/>
              <a:t> </a:t>
            </a: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tăng </a:t>
            </a: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15% so với kỳ liền trước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743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4748B"/>
                </a:solidFill>
              </a:rPr>
              <a:t>Nguồn: Nghị định 80/2023/NĐ-CP – Bộ Công Thương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577840" y="749808"/>
            <a:ext cx="3337560" cy="4160520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577840" y="749808"/>
            <a:ext cx="3337560" cy="402336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577840" y="749808"/>
            <a:ext cx="3337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>
                <a:solidFill>
                  <a:srgbClr val="0F172A"/>
                </a:solidFill>
              </a:rPr>
              <a:t>MÔ </a:t>
            </a:r>
            <a:r>
              <a:rPr lang="en-US" b="1" dirty="0">
                <a:solidFill>
                  <a:srgbClr val="0F172A"/>
                </a:solidFill>
              </a:rPr>
              <a:t>TẢ DỮ LIỆU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669280" y="1261872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</a:rPr>
              <a:t>Phạm vi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995160" y="1261872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01/2021 → 12/2025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669280" y="1755648"/>
            <a:ext cx="310896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0" y="1828800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</a:rPr>
              <a:t>Tần suất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995160" y="1828800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thứ Năm hàng tuần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669280" y="2322576"/>
            <a:ext cx="310896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0" y="2395728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</a:rPr>
              <a:t>Sản phẩm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995160" y="2395728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Xăng RON 95-III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669280" y="2889504"/>
            <a:ext cx="310896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0" y="2962656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</a:rPr>
              <a:t>Cột dữ liệu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995160" y="2962656"/>
            <a:ext cx="1737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Ngày · Giá (₫/lít) · KL giao dịch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669280" y="3456432"/>
            <a:ext cx="310896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0" y="3529584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</a:rPr>
              <a:t>Số bản ghi</a:t>
            </a: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995160" y="3529584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~260 kỳ điều chỉnh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669280" y="4023360"/>
            <a:ext cx="3108960" cy="0"/>
          </a:xfrm>
          <a:prstGeom prst="line">
            <a:avLst/>
          </a:prstGeom>
          <a:noFill/>
          <a:ln w="889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0" y="4096512"/>
            <a:ext cx="1280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3A5F"/>
                </a:solidFill>
              </a:rPr>
              <a:t>Đơn vị giá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95160" y="4096512"/>
            <a:ext cx="1783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VNĐ / lít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</a:t>
            </a:r>
            <a:r>
              <a:rPr lang="en-US" sz="2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· PHƯƠNG PHÁP PHÂN TÍCH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8580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kỳ điều chỉnh giá (thứ Năm hàng tuần) được xử lý theo quy trình 4 bước: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28600" y="1143000"/>
            <a:ext cx="4206240" cy="1874520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1143000"/>
            <a:ext cx="512064" cy="1874520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8600" y="1143000"/>
            <a:ext cx="512064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59" y="1234440"/>
            <a:ext cx="3532293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Đánh dấu xu hướng từng kỳ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960" y="1600200"/>
            <a:ext cx="34290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giá kỳ hiện tại vs kỳ trước:</a:t>
            </a:r>
            <a:endParaRPr lang="en-US" sz="1600" dirty="0"/>
          </a:p>
          <a:p>
            <a:pPr marL="285750" indent="-285750">
              <a:buFont typeface="Symbol" panose="05050102010706020507" pitchFamily="18" charset="2"/>
              <a:buChar char="+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Tăng → đánh dấu  1</a:t>
            </a:r>
            <a:endParaRPr lang="en-US" sz="1600" dirty="0"/>
          </a:p>
          <a:p>
            <a:pPr marL="285750" indent="-285750">
              <a:buFont typeface="Symbol" panose="05050102010706020507" pitchFamily="18" charset="2"/>
              <a:buChar char="+"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Giảm / giữ nguyên → đánh dấu  0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ra chuỗi nhị phân theo thứ tự thời gian.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206240" cy="1874520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143000"/>
            <a:ext cx="512064" cy="1874520"/>
          </a:xfrm>
          <a:prstGeom prst="rect">
            <a:avLst/>
          </a:prstGeom>
          <a:solidFill>
            <a:srgbClr val="F97316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143000"/>
            <a:ext cx="512064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57800" y="1234440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Tìm chuỗi tăng liên tiếp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257800" y="1600200"/>
            <a:ext cx="34290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Quét toàn bộ chuỗi nhị phân để tìm các đoạn liên tiếp toàn số 1 (ví dụ: 8 tuần liên tục tăng). Đếm độ dài mỗi đoạn → lọc những giai đoạn dài nhất.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28600" y="3136392"/>
            <a:ext cx="4206240" cy="1874520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28600" y="3136392"/>
            <a:ext cx="512064" cy="1874520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28600" y="3136392"/>
            <a:ext cx="512064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" y="3227832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Xử lý kỳ ngoại lệ ("nhiễu")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960" y="3593592"/>
            <a:ext cx="34290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chuỗi đang tăng mà gặp đúng 1 kỳ giảm nhẹ (&lt; 500 ₫) do yếu tố mùa vụ / ngày lễ → vẫn coi là thuộc giai đoạn tăng, không làm gián đoạn chuỗi.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663440" y="3136392"/>
            <a:ext cx="4206240" cy="1874520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3136392"/>
            <a:ext cx="512064" cy="1874520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3136392"/>
            <a:ext cx="512064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257800" y="3227832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Thống kê tổng hợp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257800" y="3593592"/>
            <a:ext cx="34290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Top 5 giá cao/thấp · Trung bình theo năm · Tháng có KL giao dịch cao nhất · So sánh tương quan giá ↔ giao dịch bằng hệ số Pearson.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 </a:t>
            </a:r>
            <a:r>
              <a:rPr lang="en-US" sz="2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· CÁC BƯỚC THỰC HIỆN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749808"/>
            <a:ext cx="475488" cy="566928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749808"/>
            <a:ext cx="4754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95528" y="749808"/>
            <a:ext cx="8083296" cy="56692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32688" y="78638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Thu thập &amp; làm sạch dữ liệu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2688" y="1042416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Loại bỏ kỳ lễ Tết thiếu dữ liệu, chuẩn hoá định dạng ngày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1344168"/>
            <a:ext cx="475488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9E0B"/>
                </a:solidFill>
              </a:rPr>
              <a:t>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74320" y="1467612"/>
            <a:ext cx="475488" cy="566928"/>
          </a:xfrm>
          <a:prstGeom prst="rect">
            <a:avLst/>
          </a:prstGeom>
          <a:solidFill>
            <a:srgbClr val="F97316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4320" y="1467612"/>
            <a:ext cx="4754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5528" y="1467612"/>
            <a:ext cx="8083296" cy="56692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2688" y="1504188"/>
            <a:ext cx="79461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Vẽ biểu đồ xu hướng giá theo thời gian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32688" y="176022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toàn bộ 2021–2025, đánh dấu đỉnh / đáy nổi bật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" y="2061972"/>
            <a:ext cx="475488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97316"/>
                </a:solidFill>
              </a:rPr>
              <a:t>▼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2185416"/>
            <a:ext cx="475488" cy="566928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74320" y="2185416"/>
            <a:ext cx="4754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5528" y="2185416"/>
            <a:ext cx="8083296" cy="56692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2688" y="2221992"/>
            <a:ext cx="79461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Tạo chuỗi nhị phân đánh dấu tăng/giảm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32688" y="247802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Cột mới: 1 = tăng, 0 = giảm/giữ. Áp dụng quy tắc xử lý ngoại lệ 1 kỳ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2779776"/>
            <a:ext cx="475488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3A5F"/>
                </a:solidFill>
              </a:rPr>
              <a:t>▼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4320" y="2903220"/>
            <a:ext cx="475488" cy="566928"/>
          </a:xfrm>
          <a:prstGeom prst="rect">
            <a:avLst/>
          </a:prstGeom>
          <a:solidFill>
            <a:srgbClr val="065A82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74320" y="2903220"/>
            <a:ext cx="4754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95528" y="2903220"/>
            <a:ext cx="8083296" cy="56692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32688" y="293979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Tìm giai đoạn tăng / giảm dài nhất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32688" y="319582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chuỗi, đếm đoạn liên tiếp, trích xuất top 3 giai đoạn mỗi loại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74320" y="3497580"/>
            <a:ext cx="475488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65A82"/>
                </a:solidFill>
              </a:rPr>
              <a:t>▼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74320" y="3621024"/>
            <a:ext cx="475488" cy="566928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74320" y="3621024"/>
            <a:ext cx="4754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95528" y="3621024"/>
            <a:ext cx="8083296" cy="56692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32688" y="3657600"/>
            <a:ext cx="79369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Thống kê Top 5 cao nhất &amp; thấp nhất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32688" y="3913632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Group-by tháng → lấy max/min → bảng xếp hạng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74320" y="4215384"/>
            <a:ext cx="475488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891B2"/>
                </a:solidFill>
              </a:rPr>
              <a:t>▼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74320" y="4338828"/>
            <a:ext cx="475488" cy="566928"/>
          </a:xfrm>
          <a:prstGeom prst="rect">
            <a:avLst/>
          </a:prstGeom>
          <a:solidFill>
            <a:srgbClr val="047857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274320" y="4338828"/>
            <a:ext cx="47548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95528" y="4338828"/>
            <a:ext cx="8083296" cy="56692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32688" y="4375404"/>
            <a:ext cx="79461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Phân tích tương quan giá ↔ giao dịch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32688" y="4631436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Pearson correlation, vẽ scatter plot, nhận định xu hướng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 </a:t>
            </a:r>
            <a:r>
              <a:rPr lang="en-US" sz="2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· KẾT QUẢ CHÍNH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640080"/>
            <a:ext cx="2011680" cy="157276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640080"/>
            <a:ext cx="2011680" cy="301752"/>
          </a:xfrm>
          <a:prstGeom prst="rect">
            <a:avLst/>
          </a:prstGeom>
          <a:solidFill>
            <a:srgbClr val="EF4444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640080"/>
            <a:ext cx="2011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Giá cao nhất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4672" y="941832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32.870 ₫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04672" y="1673352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</a:rPr>
              <a:t>Tháng 06/2022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53044" y="653796"/>
            <a:ext cx="2011680" cy="157276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53044" y="653796"/>
            <a:ext cx="2011680" cy="301752"/>
          </a:xfrm>
          <a:prstGeom prst="rect">
            <a:avLst/>
          </a:prstGeom>
          <a:solidFill>
            <a:srgbClr val="10B981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53044" y="653796"/>
            <a:ext cx="2011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Giá thấp nhất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53044" y="9555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16.930 ₫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453044" y="168706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</a:rPr>
              <a:t>Tháng 01/2021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999999" y="9999999"/>
            <a:ext cx="2011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01416" y="653796"/>
            <a:ext cx="2011680" cy="157276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01416" y="653796"/>
            <a:ext cx="2011680" cy="301752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101416" y="653796"/>
            <a:ext cx="20116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Giá TB cao nhất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01416" y="955548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26.181 ₫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101416" y="168706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64748B"/>
                </a:solidFill>
              </a:rPr>
              <a:t>Năm 2022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01168" y="2468880"/>
            <a:ext cx="4160520" cy="239572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01168" y="2468880"/>
            <a:ext cx="4160520" cy="347472"/>
          </a:xfrm>
          <a:prstGeom prst="rect">
            <a:avLst/>
          </a:prstGeom>
          <a:solidFill>
            <a:srgbClr val="EF4444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201168" y="2468880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🔺 TOP 3 THÁNG GIÁ CAO NHẤT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92608" y="2907792"/>
            <a:ext cx="457200" cy="475488"/>
          </a:xfrm>
          <a:prstGeom prst="rect">
            <a:avLst/>
          </a:prstGeom>
          <a:solidFill>
            <a:srgbClr val="EF4444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92608" y="2907792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04672" y="291693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06/2022  32.870 ₫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04672" y="316382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Đỉnh khủng hoảng năng lượng toàn cầu hậu COVID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92608" y="3529584"/>
            <a:ext cx="457200" cy="475488"/>
          </a:xfrm>
          <a:prstGeom prst="rect">
            <a:avLst/>
          </a:prstGeom>
          <a:solidFill>
            <a:srgbClr val="F97316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92608" y="3529584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04672" y="353872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07/2022  32.760 ₫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04672" y="3785616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 trì đỉnh ngay sau kỳ cao nhất – giảm nhẹ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92608" y="4151376"/>
            <a:ext cx="457200" cy="475488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292608" y="4151376"/>
            <a:ext cx="457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04672" y="416052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05/2022  30.650 ₫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04672" y="4407408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 thang liên tiếp trước khi chạm đỉnh 06/2022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617720" y="2468880"/>
            <a:ext cx="4297680" cy="239572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17720" y="2468880"/>
            <a:ext cx="4297680" cy="347472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617720" y="2468880"/>
            <a:ext cx="4297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📌 NHẬN XÉT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709160" y="2889504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 Cả 3 tháng cao nhất đều trong năm 2022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Cú sốc năng lượng toàn cầu hậu COVID-19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4709160" y="3529584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 01/2021 là đáy 5 năm (16.930₫/lít)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Nhu cầu thấp đầu năm, thị trường vừa phục hồi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709160" y="4169664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 2022 có giá TB cao nhất (26.181₫/lít)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Áp lực chi phí nhiên liệu lớn nhất lên DN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008F2-E400-DE3E-8898-FB9B1D016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C04D5B2-B5EC-D50F-DCAB-F740AB9ECAA4}"/>
              </a:ext>
            </a:extLst>
          </p:cNvPr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 · </a:t>
            </a:r>
            <a:r>
              <a:rPr lang="en-US" sz="2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CÂU HỎI PHÂN TÍCH &amp; TRẢ LỜI</a:t>
            </a:r>
            <a:endParaRPr lang="en-US" sz="2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B23438A-24A7-8E83-819E-36AEBDDDCA1F}"/>
              </a:ext>
            </a:extLst>
          </p:cNvPr>
          <p:cNvSpPr/>
          <p:nvPr/>
        </p:nvSpPr>
        <p:spPr>
          <a:xfrm>
            <a:off x="0" y="5074920"/>
            <a:ext cx="91440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AB0AF8B-0A50-2DE1-FC66-FF8AE3B5EF59}"/>
              </a:ext>
            </a:extLst>
          </p:cNvPr>
          <p:cNvSpPr/>
          <p:nvPr/>
        </p:nvSpPr>
        <p:spPr>
          <a:xfrm>
            <a:off x="201168" y="731520"/>
            <a:ext cx="8741664" cy="74980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5062EB4-7424-2111-0676-BC70484FD7C6}"/>
              </a:ext>
            </a:extLst>
          </p:cNvPr>
          <p:cNvSpPr/>
          <p:nvPr/>
        </p:nvSpPr>
        <p:spPr>
          <a:xfrm>
            <a:off x="201168" y="731520"/>
            <a:ext cx="457200" cy="749808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11D8A2D-5E1B-E964-9E9C-90D23B5FC9A9}"/>
              </a:ext>
            </a:extLst>
          </p:cNvPr>
          <p:cNvSpPr/>
          <p:nvPr/>
        </p:nvSpPr>
        <p:spPr>
          <a:xfrm>
            <a:off x="201168" y="731520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Q1</a:t>
            </a: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933B9C7-27D8-27E2-E5B3-93AB6DCCBA71}"/>
              </a:ext>
            </a:extLst>
          </p:cNvPr>
          <p:cNvSpPr/>
          <p:nvPr/>
        </p:nvSpPr>
        <p:spPr>
          <a:xfrm>
            <a:off x="749808" y="768096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Giai đoạn nào giá xăng tăng/giảm liên tục trong 5 năm?</a:t>
            </a:r>
            <a:endParaRPr lang="en-US" sz="1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930009B-1A97-7BB4-4476-8E2220AB1AE8}"/>
              </a:ext>
            </a:extLst>
          </p:cNvPr>
          <p:cNvSpPr/>
          <p:nvPr/>
        </p:nvSpPr>
        <p:spPr>
          <a:xfrm>
            <a:off x="749808" y="113385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Tăng dài nhất: 16 kỳ liên tiếp (31/07/2025 → 13/11/2025), giá +730₫. Giảm dài nhất: 10 kỳ (01/07/2022 → 03/10/2022), giá giảm 11.320₫</a:t>
            </a:r>
            <a:endParaRPr lang="en-US" sz="11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CDC3FC-8B8E-89DA-B2DE-4BCF19F61B78}"/>
              </a:ext>
            </a:extLst>
          </p:cNvPr>
          <p:cNvSpPr/>
          <p:nvPr/>
        </p:nvSpPr>
        <p:spPr>
          <a:xfrm>
            <a:off x="201168" y="1586484"/>
            <a:ext cx="8741664" cy="74980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FC5BCC-28F4-0767-6371-D1992E1D9AB2}"/>
              </a:ext>
            </a:extLst>
          </p:cNvPr>
          <p:cNvSpPr/>
          <p:nvPr/>
        </p:nvSpPr>
        <p:spPr>
          <a:xfrm>
            <a:off x="201168" y="1586484"/>
            <a:ext cx="457200" cy="749808"/>
          </a:xfrm>
          <a:prstGeom prst="rect">
            <a:avLst/>
          </a:prstGeom>
          <a:solidFill>
            <a:srgbClr val="EF4444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7EFB7E7-6103-5D3F-AD36-96A7FD5C9423}"/>
              </a:ext>
            </a:extLst>
          </p:cNvPr>
          <p:cNvSpPr/>
          <p:nvPr/>
        </p:nvSpPr>
        <p:spPr>
          <a:xfrm>
            <a:off x="201168" y="1586484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Q2</a:t>
            </a:r>
            <a:endParaRPr lang="en-US" sz="15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485BD4B-5EAD-8F56-7285-3162B34E3FFB}"/>
              </a:ext>
            </a:extLst>
          </p:cNvPr>
          <p:cNvSpPr/>
          <p:nvPr/>
        </p:nvSpPr>
        <p:spPr>
          <a:xfrm>
            <a:off x="749808" y="16230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tháng có mức biến động giá mạnh nhất &amp; tác động?</a:t>
            </a:r>
            <a:endParaRPr lang="en-US" sz="12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745DF83-4EAE-37B9-6541-BBB14919BD50}"/>
              </a:ext>
            </a:extLst>
          </p:cNvPr>
          <p:cNvSpPr/>
          <p:nvPr/>
        </p:nvSpPr>
        <p:spPr>
          <a:xfrm>
            <a:off x="749808" y="198882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vi-VN" sz="1100" i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06/2022 (32.870₫) · 07/2022 (32.760₫) · 05/2022 (30.650₫) → Cả 3 đều trong năm 2022, cú sốc năng lượng toàn cầu hậu COVID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175CF99-B104-B677-48E1-BE2609DDEBF1}"/>
              </a:ext>
            </a:extLst>
          </p:cNvPr>
          <p:cNvSpPr/>
          <p:nvPr/>
        </p:nvSpPr>
        <p:spPr>
          <a:xfrm>
            <a:off x="201168" y="2441448"/>
            <a:ext cx="8741664" cy="74980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4B773A5-7113-E3D5-ECCE-C37E2507E282}"/>
              </a:ext>
            </a:extLst>
          </p:cNvPr>
          <p:cNvSpPr/>
          <p:nvPr/>
        </p:nvSpPr>
        <p:spPr>
          <a:xfrm>
            <a:off x="201168" y="2441448"/>
            <a:ext cx="457200" cy="749808"/>
          </a:xfrm>
          <a:prstGeom prst="rect">
            <a:avLst/>
          </a:prstGeom>
          <a:solidFill>
            <a:srgbClr val="1E3A5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F8B3333-6B21-E8B5-7840-C5CC622D650C}"/>
              </a:ext>
            </a:extLst>
          </p:cNvPr>
          <p:cNvSpPr/>
          <p:nvPr/>
        </p:nvSpPr>
        <p:spPr>
          <a:xfrm>
            <a:off x="201168" y="2441448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Q3</a:t>
            </a:r>
            <a:endParaRPr lang="en-US" sz="15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2175ABA3-F8A3-A220-69DD-C335124DCA95}"/>
              </a:ext>
            </a:extLst>
          </p:cNvPr>
          <p:cNvSpPr/>
          <p:nvPr/>
        </p:nvSpPr>
        <p:spPr>
          <a:xfrm>
            <a:off x="749808" y="2478024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vi-VN" sz="1200" b="1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Xu hướng giá thay đổi thế nào qua từng năm?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3DF3004-BC6D-51B9-E925-9E11FC89449D}"/>
              </a:ext>
            </a:extLst>
          </p:cNvPr>
          <p:cNvSpPr/>
          <p:nvPr/>
        </p:nvSpPr>
        <p:spPr>
          <a:xfrm>
            <a:off x="749808" y="2843784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2021: 20.730₫ · 2022: 26.181₫ (đỉnh) · 2023: 23.027₫ · 2024: 22.353₫ · 2025: 20.193₫ — giảm dần sau đỉnh 2022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C3904CC-20B5-0798-FA43-C00A006D6D31}"/>
              </a:ext>
            </a:extLst>
          </p:cNvPr>
          <p:cNvSpPr/>
          <p:nvPr/>
        </p:nvSpPr>
        <p:spPr>
          <a:xfrm>
            <a:off x="201168" y="3296412"/>
            <a:ext cx="8741664" cy="74980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A59806F6-0B9D-1E1B-E02E-D77336E114AD}"/>
              </a:ext>
            </a:extLst>
          </p:cNvPr>
          <p:cNvSpPr/>
          <p:nvPr/>
        </p:nvSpPr>
        <p:spPr>
          <a:xfrm>
            <a:off x="201168" y="3296412"/>
            <a:ext cx="457200" cy="749808"/>
          </a:xfrm>
          <a:prstGeom prst="rect">
            <a:avLst/>
          </a:prstGeom>
          <a:solidFill>
            <a:srgbClr val="0891B2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715EA316-0B00-326F-9D45-DD7990148BC6}"/>
              </a:ext>
            </a:extLst>
          </p:cNvPr>
          <p:cNvSpPr/>
          <p:nvPr/>
        </p:nvSpPr>
        <p:spPr>
          <a:xfrm>
            <a:off x="201168" y="3296412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Q4</a:t>
            </a:r>
            <a:endParaRPr lang="en-US" sz="15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0CAA6FFF-B55E-81BD-87B2-AD51BDA02A75}"/>
              </a:ext>
            </a:extLst>
          </p:cNvPr>
          <p:cNvSpPr/>
          <p:nvPr/>
        </p:nvSpPr>
        <p:spPr>
          <a:xfrm>
            <a:off x="749808" y="333298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Năm nào có giá trung bình cao nhất &amp; ảnh hưởng như thế nào?</a:t>
            </a:r>
            <a:endParaRPr lang="en-US" sz="12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31D5C656-8606-394E-16B7-E29CAD75216D}"/>
              </a:ext>
            </a:extLst>
          </p:cNvPr>
          <p:cNvSpPr/>
          <p:nvPr/>
        </p:nvSpPr>
        <p:spPr>
          <a:xfrm>
            <a:off x="749808" y="3698748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 2022: TB 26.181₫/lít (cao nhất 5 năm) → áp lực chi phí đầu vào lớn nhất cho vận tải, sản xuất</a:t>
            </a:r>
            <a:endParaRPr lang="en-US" sz="11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DD4FCA44-CB7C-0E1D-E70B-5A88CA6B2A6F}"/>
              </a:ext>
            </a:extLst>
          </p:cNvPr>
          <p:cNvSpPr/>
          <p:nvPr/>
        </p:nvSpPr>
        <p:spPr>
          <a:xfrm>
            <a:off x="201168" y="4151376"/>
            <a:ext cx="8741664" cy="749808"/>
          </a:xfrm>
          <a:prstGeom prst="rect">
            <a:avLst/>
          </a:prstGeom>
          <a:solidFill>
            <a:srgbClr val="F1F5F9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A8BF39C0-82BD-F805-5C2A-5B263EA69B37}"/>
              </a:ext>
            </a:extLst>
          </p:cNvPr>
          <p:cNvSpPr/>
          <p:nvPr/>
        </p:nvSpPr>
        <p:spPr>
          <a:xfrm>
            <a:off x="201168" y="4151376"/>
            <a:ext cx="457200" cy="749808"/>
          </a:xfrm>
          <a:prstGeom prst="rect">
            <a:avLst/>
          </a:prstGeom>
          <a:solidFill>
            <a:srgbClr val="10B981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092DAC6-F41B-75B0-A8CD-C67BA728C720}"/>
              </a:ext>
            </a:extLst>
          </p:cNvPr>
          <p:cNvSpPr/>
          <p:nvPr/>
        </p:nvSpPr>
        <p:spPr>
          <a:xfrm>
            <a:off x="201168" y="4151376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Q5</a:t>
            </a:r>
            <a:endParaRPr lang="en-US" sz="15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7E1E97D7-270F-A0F2-D1D2-A02525CF7114}"/>
              </a:ext>
            </a:extLst>
          </p:cNvPr>
          <p:cNvSpPr/>
          <p:nvPr/>
        </p:nvSpPr>
        <p:spPr>
          <a:xfrm>
            <a:off x="749808" y="4187952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Các tháng có giá xăng thấp nhất trong 5 năm?</a:t>
            </a:r>
            <a:endParaRPr lang="en-US" sz="12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BA883D4-0C4A-0B17-49B3-D5275816915A}"/>
              </a:ext>
            </a:extLst>
          </p:cNvPr>
          <p:cNvSpPr/>
          <p:nvPr/>
        </p:nvSpPr>
        <p:spPr>
          <a:xfrm>
            <a:off x="749808" y="4553712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vi-VN" sz="1100" i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01/2021 (16.930₫) · 02/2021 (17.270₫) · 04/2025 (18.850₫) · 03/2021 (18.880₫) · 04/2021 (18.970₫) — thời điểm vàng để tối ưu chi phí vận hành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605203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90B1A-42C5-9BF0-891A-A1D27F464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C22D4A9-A1F4-EC2C-A92C-1C65A016297E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A929D86-1268-E645-8AD0-97244E9F9A25}"/>
              </a:ext>
            </a:extLst>
          </p:cNvPr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FA593D1-466B-AD05-E29B-13D4017F225F}"/>
              </a:ext>
            </a:extLst>
          </p:cNvPr>
          <p:cNvSpPr/>
          <p:nvPr/>
        </p:nvSpPr>
        <p:spPr>
          <a:xfrm>
            <a:off x="365760" y="10972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 </a:t>
            </a:r>
            <a:r>
              <a:rPr lang="en-US" sz="22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· ĐỀ XUẤT &amp; HẠN CHẾ</a:t>
            </a:r>
            <a:endParaRPr lang="en-US" sz="2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B771105-5FE8-7B36-7F3B-BC9E99BD3161}"/>
              </a:ext>
            </a:extLst>
          </p:cNvPr>
          <p:cNvSpPr/>
          <p:nvPr/>
        </p:nvSpPr>
        <p:spPr>
          <a:xfrm>
            <a:off x="201168" y="804672"/>
            <a:ext cx="4251960" cy="402336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D4BCC2D-7B83-A29B-B04D-4C78B085065D}"/>
              </a:ext>
            </a:extLst>
          </p:cNvPr>
          <p:cNvSpPr/>
          <p:nvPr/>
        </p:nvSpPr>
        <p:spPr>
          <a:xfrm>
            <a:off x="201168" y="804672"/>
            <a:ext cx="4251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  ĐỀ XUẤT</a:t>
            </a:r>
            <a:endParaRPr lang="en-US" sz="13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B439529-ACAD-1BB0-E93B-BB4314675E26}"/>
              </a:ext>
            </a:extLst>
          </p:cNvPr>
          <p:cNvSpPr/>
          <p:nvPr/>
        </p:nvSpPr>
        <p:spPr>
          <a:xfrm>
            <a:off x="347472" y="1298448"/>
            <a:ext cx="39319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Theo dõi giá dầu Brent &amp; WTI mỗi tuần để dự báo kỳ điều chỉnh thứ Năm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DN vận tải lập quỹ dự phòng nhiên liệu khi giá vượt ngưỡng 25.000 ₫/lít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phân tích sang xăng E5 RON 92 và dầu diesel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Kết hợp chỉ số CPI &amp; GDP để đánh giá tác động vĩ mô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Xây dựng dashboard cập nhật tự động mỗi thứ Năm (chu kỳ chính thức)</a:t>
            </a:r>
            <a:endParaRPr lang="en-US" sz="1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43A7D10-06AC-0A40-7262-769EA902E5EF}"/>
              </a:ext>
            </a:extLst>
          </p:cNvPr>
          <p:cNvSpPr/>
          <p:nvPr/>
        </p:nvSpPr>
        <p:spPr>
          <a:xfrm>
            <a:off x="4690872" y="804672"/>
            <a:ext cx="4251960" cy="402336"/>
          </a:xfrm>
          <a:prstGeom prst="rect">
            <a:avLst/>
          </a:prstGeom>
          <a:solidFill>
            <a:srgbClr val="EF4444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C126B6B-DBB5-5933-DA82-FB94A1B732E0}"/>
              </a:ext>
            </a:extLst>
          </p:cNvPr>
          <p:cNvSpPr/>
          <p:nvPr/>
        </p:nvSpPr>
        <p:spPr>
          <a:xfrm>
            <a:off x="4690872" y="804672"/>
            <a:ext cx="42519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⚠  HẠN CHẾ</a:t>
            </a:r>
            <a:endParaRPr lang="en-US" sz="13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430582E-5A7B-D3F3-FA16-9391350E7A36}"/>
              </a:ext>
            </a:extLst>
          </p:cNvPr>
          <p:cNvSpPr/>
          <p:nvPr/>
        </p:nvSpPr>
        <p:spPr>
          <a:xfrm>
            <a:off x="4828032" y="1298448"/>
            <a:ext cx="39319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giao dịch còn thiếu một số kỳ điều chỉnh nhỏ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Chưa phân tách theo vùng địa lý (Hà Nội, TP.HCM, vùng sâu xa)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Chưa phân tích tác động trực tiếp đến CPI &amp; lạm phát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Chưa tích hợp dữ liệu giá dầu thô Brent để đối chiếu nguyên nhân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dừng ở thống kê mô tả; chưa có mô hình dự báo (ARIMA…)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716500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ủ đề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1336</Words>
  <Application>Microsoft Office PowerPoint</Application>
  <PresentationFormat>Trình chiếu Trên màn hình (16:9)</PresentationFormat>
  <Paragraphs>173</Paragraphs>
  <Slides>9</Slides>
  <Notes>9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4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9</vt:i4>
      </vt:variant>
    </vt:vector>
  </HeadingPairs>
  <TitlesOfParts>
    <vt:vector size="14" baseType="lpstr">
      <vt:lpstr>Arial</vt:lpstr>
      <vt:lpstr>Arial Black</vt:lpstr>
      <vt:lpstr>Calibri</vt:lpstr>
      <vt:lpstr>Symbol</vt:lpstr>
      <vt:lpstr>Office Theme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Khiêm Nguyễn Như</cp:lastModifiedBy>
  <cp:revision>9</cp:revision>
  <dcterms:created xsi:type="dcterms:W3CDTF">2026-05-23T08:11:24Z</dcterms:created>
  <dcterms:modified xsi:type="dcterms:W3CDTF">2026-05-23T14:51:41Z</dcterms:modified>
</cp:coreProperties>
</file>